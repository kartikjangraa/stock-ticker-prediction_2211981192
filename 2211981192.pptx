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69" r:id="rId7"/>
    <p:sldId id="270" r:id="rId8"/>
    <p:sldId id="271" r:id="rId9"/>
    <p:sldId id="272" r:id="rId10"/>
    <p:sldId id="273" r:id="rId11"/>
    <p:sldId id="274" r:id="rId12"/>
    <p:sldId id="275" r:id="rId13"/>
    <p:sldId id="276"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6291A-AB23-452D-B352-D3674521216E}" v="37" dt="2026-05-13T17:30:38.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68"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5</a:t>
            </a:fld>
            <a:endParaRPr lang="en-US"/>
          </a:p>
        </p:txBody>
      </p:sp>
    </p:spTree>
    <p:extLst>
      <p:ext uri="{BB962C8B-B14F-4D97-AF65-F5344CB8AC3E}">
        <p14:creationId xmlns:p14="http://schemas.microsoft.com/office/powerpoint/2010/main" val="2240303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i="1" spc="-1" dirty="0">
                <a:latin typeface="Times New Roman" panose="02020603050405020304" pitchFamily="18" charset="0"/>
                <a:ea typeface="Calibri" panose="020F0502020204030204" pitchFamily="34" charset="0"/>
                <a:cs typeface="Times New Roman" panose="02020603050405020304" pitchFamily="18" charset="0"/>
              </a:rPr>
              <a:t>Stock Ticker Prediction</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Kartik</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2211981192</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Atul Katiyar</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373866" y="1258530"/>
            <a:ext cx="8681644" cy="4857544"/>
          </a:xfrm>
          <a:prstGeom prst="rect">
            <a:avLst/>
          </a:prstGeom>
          <a:noFill/>
          <a:ln w="9360">
            <a:noFill/>
          </a:ln>
        </p:spPr>
        <p:txBody>
          <a:bodyPr>
            <a:noAutofit/>
          </a:bodyPr>
          <a:lstStyle/>
          <a:p>
            <a:pPr marL="285750" indent="-285750">
              <a:lnSpc>
                <a:spcPct val="100000"/>
              </a:lnSpc>
              <a:spcBef>
                <a:spcPts val="400"/>
              </a:spcBef>
              <a:buFont typeface="Arial" panose="020B0604020202020204" pitchFamily="34" charset="0"/>
              <a:buChar char="•"/>
            </a:pPr>
            <a:endParaRPr lang="en-US" spc="-1" dirty="0">
              <a:solidFill>
                <a:srgbClr val="000000"/>
              </a:solidFill>
              <a:latin typeface="Calibri"/>
            </a:endParaRPr>
          </a:p>
          <a:p>
            <a:pPr marL="285750" indent="-285750">
              <a:buFont typeface="Arial" panose="020B0604020202020204" pitchFamily="34" charset="0"/>
              <a:buChar char="•"/>
            </a:pPr>
            <a:r>
              <a:rPr lang="en-US" sz="2000" dirty="0"/>
              <a:t>The stock market changes continuously due to economic and social factors. </a:t>
            </a:r>
          </a:p>
          <a:p>
            <a:pPr marL="285750" indent="-285750">
              <a:buFont typeface="Arial" panose="020B0604020202020204" pitchFamily="34" charset="0"/>
              <a:buChar char="•"/>
            </a:pPr>
            <a:r>
              <a:rPr lang="en-US" sz="2000" dirty="0"/>
              <a:t>Predicting stock prices manually is difficult because of huge and complex data. </a:t>
            </a:r>
          </a:p>
          <a:p>
            <a:pPr marL="285750" indent="-285750">
              <a:buFont typeface="Arial" panose="020B0604020202020204" pitchFamily="34" charset="0"/>
              <a:buChar char="•"/>
            </a:pPr>
            <a:r>
              <a:rPr lang="en-US" sz="2000" dirty="0"/>
              <a:t>Machine Learning helps in analyzing historical stock data and predicting future trends. </a:t>
            </a:r>
          </a:p>
          <a:p>
            <a:pPr marL="285750" indent="-285750">
              <a:buFont typeface="Arial" panose="020B0604020202020204" pitchFamily="34" charset="0"/>
              <a:buChar char="•"/>
            </a:pPr>
            <a:r>
              <a:rPr lang="en-US" sz="2000" dirty="0"/>
              <a:t>This project develops a stock prediction system using ML algorithms and data visualization techniques. </a:t>
            </a:r>
          </a:p>
          <a:p>
            <a:pPr marL="285750" indent="-285750">
              <a:buFont typeface="Arial" panose="020B0604020202020204" pitchFamily="34" charset="0"/>
              <a:buChar char="•"/>
            </a:pPr>
            <a:r>
              <a:rPr lang="en-US" sz="2000" dirty="0"/>
              <a:t>The system assists investors in making better financial decisions.</a:t>
            </a:r>
          </a:p>
          <a:p>
            <a:endParaRPr lang="en-IN" sz="2000" dirty="0"/>
          </a:p>
          <a:p>
            <a:r>
              <a:rPr lang="en-IN" sz="2000" b="1" dirty="0"/>
              <a:t>Key Points:</a:t>
            </a:r>
          </a:p>
          <a:p>
            <a:endParaRPr lang="en-US" sz="2000" dirty="0"/>
          </a:p>
          <a:p>
            <a:pPr marL="342900" indent="-342900">
              <a:buFont typeface="Arial" panose="020B0604020202020204" pitchFamily="34" charset="0"/>
              <a:buChar char="•"/>
            </a:pPr>
            <a:r>
              <a:rPr lang="en-US" sz="2000" dirty="0"/>
              <a:t>Data-driven prediction system </a:t>
            </a:r>
          </a:p>
          <a:p>
            <a:pPr marL="342900" indent="-342900">
              <a:buFont typeface="Arial" panose="020B0604020202020204" pitchFamily="34" charset="0"/>
              <a:buChar char="•"/>
            </a:pPr>
            <a:r>
              <a:rPr lang="en-US" sz="2000" dirty="0"/>
              <a:t>Reduces human effort </a:t>
            </a:r>
          </a:p>
          <a:p>
            <a:pPr marL="342900" indent="-342900">
              <a:buFont typeface="Arial" panose="020B0604020202020204" pitchFamily="34" charset="0"/>
              <a:buChar char="•"/>
            </a:pPr>
            <a:r>
              <a:rPr lang="en-US" sz="2000" dirty="0"/>
              <a:t>Helps investors in decision-making </a:t>
            </a:r>
          </a:p>
          <a:p>
            <a:endParaRPr lang="en-US" sz="2000" dirty="0"/>
          </a:p>
          <a:p>
            <a:pPr marL="285750" indent="-285750">
              <a:lnSpc>
                <a:spcPct val="100000"/>
              </a:lnSpc>
              <a:spcBef>
                <a:spcPts val="400"/>
              </a:spcBef>
              <a:buFont typeface="Arial" panose="020B0604020202020204" pitchFamily="34" charset="0"/>
              <a:buChar char="•"/>
            </a:pPr>
            <a:endParaRPr lang="en-US" spc="-1" dirty="0">
              <a:solidFill>
                <a:srgbClr val="000000"/>
              </a:solidFill>
              <a:latin typeface="Calibri"/>
            </a:endParaRPr>
          </a:p>
          <a:p>
            <a:pPr>
              <a:lnSpc>
                <a:spcPct val="150000"/>
              </a:lnSpc>
              <a:spcBef>
                <a:spcPts val="400"/>
              </a:spcBef>
            </a:pPr>
            <a:endParaRPr lang="en-US" sz="1200" b="0" strike="noStrike" spc="-1" dirty="0">
              <a:solidFill>
                <a:srgbClr val="000000"/>
              </a:solidFill>
              <a:latin typeface="Calibri"/>
            </a:endParaRPr>
          </a:p>
          <a:p>
            <a:pPr>
              <a:lnSpc>
                <a:spcPct val="150000"/>
              </a:lnSpc>
              <a:spcBef>
                <a:spcPts val="400"/>
              </a:spcBef>
            </a:pPr>
            <a:endParaRPr lang="en-US" sz="1200" b="0" strike="noStrike" spc="-1" dirty="0">
              <a:solidFill>
                <a:srgbClr val="000000"/>
              </a:solidFill>
              <a:latin typeface="Calibri"/>
            </a:endParaRPr>
          </a:p>
          <a:p>
            <a:pPr>
              <a:lnSpc>
                <a:spcPct val="150000"/>
              </a:lnSpc>
              <a:spcBef>
                <a:spcPts val="400"/>
              </a:spcBef>
            </a:pPr>
            <a:endParaRPr lang="en-US" sz="1200" b="0" strike="noStrike" spc="-1" dirty="0">
              <a:solidFill>
                <a:srgbClr val="000000"/>
              </a:solidFill>
              <a:latin typeface="Calibri"/>
            </a:endParaRPr>
          </a:p>
          <a:p>
            <a:pPr>
              <a:lnSpc>
                <a:spcPct val="150000"/>
              </a:lnSpc>
              <a:spcBef>
                <a:spcPts val="400"/>
              </a:spcBef>
            </a:pPr>
            <a:endParaRPr lang="en-US" sz="1200" b="0" strike="noStrike" spc="-1" dirty="0">
              <a:solidFill>
                <a:srgbClr val="000000"/>
              </a:solidFill>
              <a:latin typeface="Calibri"/>
            </a:endParaRPr>
          </a:p>
          <a:p>
            <a:pPr>
              <a:lnSpc>
                <a:spcPct val="100000"/>
              </a:lnSpc>
              <a:spcBef>
                <a:spcPts val="400"/>
              </a:spcBef>
            </a:pPr>
            <a:endParaRPr lang="en-US" sz="1200" b="0" strike="noStrike" spc="-1" dirty="0">
              <a:solidFill>
                <a:srgbClr val="000000"/>
              </a:solidFill>
              <a:latin typeface="Calibri"/>
            </a:endParaRPr>
          </a:p>
          <a:p>
            <a:pPr>
              <a:lnSpc>
                <a:spcPct val="100000"/>
              </a:lnSpc>
              <a:spcBef>
                <a:spcPts val="400"/>
              </a:spcBef>
            </a:pPr>
            <a:endParaRPr lang="en-US" sz="1200" b="0" strike="noStrike" spc="-1" dirty="0">
              <a:solidFill>
                <a:srgbClr val="000000"/>
              </a:solidFill>
              <a:latin typeface="Calibri"/>
            </a:endParaRPr>
          </a:p>
          <a:p>
            <a:pPr>
              <a:lnSpc>
                <a:spcPct val="100000"/>
              </a:lnSpc>
              <a:spcBef>
                <a:spcPts val="400"/>
              </a:spcBef>
            </a:pPr>
            <a:endParaRPr lang="en-US" sz="1200" b="0" strike="noStrike" spc="-1" dirty="0">
              <a:solidFill>
                <a:srgbClr val="000000"/>
              </a:solidFill>
              <a:latin typeface="Calibri"/>
            </a:endParaRPr>
          </a:p>
          <a:p>
            <a:pPr>
              <a:lnSpc>
                <a:spcPct val="100000"/>
              </a:lnSpc>
              <a:spcBef>
                <a:spcPts val="400"/>
              </a:spcBef>
            </a:pPr>
            <a:endParaRPr lang="en-US" sz="1200" b="0" strike="noStrike" spc="-1" dirty="0">
              <a:solidFill>
                <a:srgbClr val="000000"/>
              </a:solidFill>
              <a:latin typeface="Calibri"/>
            </a:endParaRPr>
          </a:p>
          <a:p>
            <a:pPr>
              <a:lnSpc>
                <a:spcPct val="100000"/>
              </a:lnSpc>
              <a:spcBef>
                <a:spcPts val="400"/>
              </a:spcBef>
            </a:pPr>
            <a:endParaRPr lang="en-US" sz="12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9663-8FE4-6399-F4BB-B981CE485DB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Problem Statement</a:t>
            </a:r>
          </a:p>
        </p:txBody>
      </p:sp>
      <p:sp>
        <p:nvSpPr>
          <p:cNvPr id="3" name="Subtitle 2">
            <a:extLst>
              <a:ext uri="{FF2B5EF4-FFF2-40B4-BE49-F238E27FC236}">
                <a16:creationId xmlns:a16="http://schemas.microsoft.com/office/drawing/2014/main" id="{2CE701EB-6FF4-CD52-EF04-6CFC8546CCDC}"/>
              </a:ext>
            </a:extLst>
          </p:cNvPr>
          <p:cNvSpPr>
            <a:spLocks noGrp="1"/>
          </p:cNvSpPr>
          <p:nvPr>
            <p:ph type="subTitle"/>
          </p:nvPr>
        </p:nvSpPr>
        <p:spPr>
          <a:xfrm>
            <a:off x="181896" y="-1"/>
            <a:ext cx="8229240" cy="8416413"/>
          </a:xfrm>
        </p:spPr>
        <p:txBody>
          <a:bodyPr/>
          <a:lstStyle/>
          <a:p>
            <a:pPr marL="342900" indent="-342900">
              <a:buFont typeface="Arial" panose="020B0604020202020204" pitchFamily="34" charset="0"/>
              <a:buChar char="•"/>
            </a:pPr>
            <a:r>
              <a:rPr lang="en-US" sz="2400" dirty="0"/>
              <a:t>Traditional stock analysis methods require a lot of manual effort and often fail to provide accurate predictions because of market volatility. Investors face difficulty in studying huge financial datasets and identifying useful trends.</a:t>
            </a:r>
          </a:p>
          <a:p>
            <a:pPr marL="342900" indent="-342900">
              <a:buFont typeface="Arial" panose="020B0604020202020204" pitchFamily="34" charset="0"/>
              <a:buChar char="•"/>
            </a:pPr>
            <a:r>
              <a:rPr lang="en-US" sz="2400" dirty="0"/>
              <a:t>There is a need for an automated system that can process stock market data efficiently and generate predictions using Machine Learning algorithms. The project aims to solve this issue by developing a smart prediction model.</a:t>
            </a:r>
          </a:p>
          <a:p>
            <a:pPr marL="342900" indent="-342900">
              <a:buFont typeface="Arial" panose="020B0604020202020204" pitchFamily="34" charset="0"/>
              <a:buChar char="•"/>
            </a:pPr>
            <a:r>
              <a:rPr lang="en-US" sz="2400" dirty="0"/>
              <a:t>Traditional prediction methods are less accurate and time-consuming.</a:t>
            </a:r>
          </a:p>
          <a:p>
            <a:pPr marL="342900" indent="-342900">
              <a:buFont typeface="Arial" panose="020B0604020202020204" pitchFamily="34" charset="0"/>
              <a:buChar char="•"/>
            </a:pPr>
            <a:r>
              <a:rPr lang="en-US" sz="2400" dirty="0"/>
              <a:t>Investors face difficulty in analyzing market trends manually.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400" dirty="0"/>
          </a:p>
        </p:txBody>
      </p:sp>
    </p:spTree>
    <p:extLst>
      <p:ext uri="{BB962C8B-B14F-4D97-AF65-F5344CB8AC3E}">
        <p14:creationId xmlns:p14="http://schemas.microsoft.com/office/powerpoint/2010/main" val="372535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EE0D-A4E6-88A5-5D7B-EF837ED10FCE}"/>
              </a:ext>
            </a:extLst>
          </p:cNvPr>
          <p:cNvSpPr>
            <a:spLocks noGrp="1"/>
          </p:cNvSpPr>
          <p:nvPr>
            <p:ph type="title"/>
          </p:nvPr>
        </p:nvSpPr>
        <p:spPr/>
        <p:txBody>
          <a:bodyPr/>
          <a:lstStyle/>
          <a:p>
            <a:r>
              <a:rPr lang="en-IN" sz="3200" dirty="0"/>
              <a:t>               Objectives</a:t>
            </a:r>
          </a:p>
        </p:txBody>
      </p:sp>
      <p:sp>
        <p:nvSpPr>
          <p:cNvPr id="3" name="Subtitle 2">
            <a:extLst>
              <a:ext uri="{FF2B5EF4-FFF2-40B4-BE49-F238E27FC236}">
                <a16:creationId xmlns:a16="http://schemas.microsoft.com/office/drawing/2014/main" id="{91CC8D09-A526-594B-F3E5-AFFA0DDA42EA}"/>
              </a:ext>
            </a:extLst>
          </p:cNvPr>
          <p:cNvSpPr>
            <a:spLocks noGrp="1"/>
          </p:cNvSpPr>
          <p:nvPr>
            <p:ph type="subTitle"/>
          </p:nvPr>
        </p:nvSpPr>
        <p:spPr>
          <a:xfrm>
            <a:off x="457200" y="1604519"/>
            <a:ext cx="8229240" cy="4697957"/>
          </a:xfrm>
        </p:spPr>
        <p:txBody>
          <a:bodyPr/>
          <a:lstStyle/>
          <a:p>
            <a:pPr marL="0" indent="0">
              <a:buNone/>
            </a:pPr>
            <a:r>
              <a:rPr lang="en-US" sz="2800" b="1" dirty="0"/>
              <a:t>Objectives of the Project</a:t>
            </a:r>
          </a:p>
          <a:p>
            <a:pPr marL="457200" indent="-457200">
              <a:buFont typeface="Arial" panose="020B0604020202020204" pitchFamily="34" charset="0"/>
              <a:buChar char="•"/>
            </a:pPr>
            <a:r>
              <a:rPr lang="en-US" sz="2800" dirty="0"/>
              <a:t>To collect and analyze historical stock market data. </a:t>
            </a:r>
          </a:p>
          <a:p>
            <a:pPr marL="457200" indent="-457200">
              <a:buFont typeface="Arial" panose="020B0604020202020204" pitchFamily="34" charset="0"/>
              <a:buChar char="•"/>
            </a:pPr>
            <a:r>
              <a:rPr lang="en-US" sz="2800" dirty="0"/>
              <a:t>To preprocess stock datasets for accurate prediction. </a:t>
            </a:r>
          </a:p>
          <a:p>
            <a:pPr marL="457200" indent="-457200">
              <a:buFont typeface="Arial" panose="020B0604020202020204" pitchFamily="34" charset="0"/>
              <a:buChar char="•"/>
            </a:pPr>
            <a:r>
              <a:rPr lang="en-US" sz="2800" dirty="0"/>
              <a:t>To apply Machine Learning algorithms for predicting future stock prices. </a:t>
            </a:r>
          </a:p>
          <a:p>
            <a:pPr marL="457200" indent="-457200">
              <a:buFont typeface="Arial" panose="020B0604020202020204" pitchFamily="34" charset="0"/>
              <a:buChar char="•"/>
            </a:pPr>
            <a:r>
              <a:rPr lang="en-US" sz="2800" dirty="0"/>
              <a:t>To visualize stock market trends using graphs and charts. </a:t>
            </a:r>
          </a:p>
          <a:p>
            <a:pPr marL="457200" indent="-457200">
              <a:buFont typeface="Arial" panose="020B0604020202020204" pitchFamily="34" charset="0"/>
              <a:buChar char="•"/>
            </a:pPr>
            <a:r>
              <a:rPr lang="en-US" sz="2800" dirty="0"/>
              <a:t>To improve decision-making for investors through data analysis.</a:t>
            </a:r>
          </a:p>
          <a:p>
            <a:endParaRPr lang="en-IN" sz="2800" dirty="0"/>
          </a:p>
        </p:txBody>
      </p:sp>
    </p:spTree>
    <p:extLst>
      <p:ext uri="{BB962C8B-B14F-4D97-AF65-F5344CB8AC3E}">
        <p14:creationId xmlns:p14="http://schemas.microsoft.com/office/powerpoint/2010/main" val="679926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BEE76-A89B-194B-E8ED-D3F9A69BB0BF}"/>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Technologies Used</a:t>
            </a:r>
          </a:p>
        </p:txBody>
      </p:sp>
      <p:sp>
        <p:nvSpPr>
          <p:cNvPr id="3" name="Subtitle 2">
            <a:extLst>
              <a:ext uri="{FF2B5EF4-FFF2-40B4-BE49-F238E27FC236}">
                <a16:creationId xmlns:a16="http://schemas.microsoft.com/office/drawing/2014/main" id="{9D1E794A-5CB5-C2CE-3BE9-206537BBC834}"/>
              </a:ext>
            </a:extLst>
          </p:cNvPr>
          <p:cNvSpPr>
            <a:spLocks noGrp="1"/>
          </p:cNvSpPr>
          <p:nvPr>
            <p:ph type="subTitle"/>
          </p:nvPr>
        </p:nvSpPr>
        <p:spPr>
          <a:xfrm>
            <a:off x="457200" y="1604519"/>
            <a:ext cx="8229240" cy="4668461"/>
          </a:xfrm>
        </p:spPr>
        <p:txBody>
          <a:bodyPr/>
          <a:lstStyle/>
          <a:p>
            <a:r>
              <a:rPr lang="en-IN" sz="3200" b="1" dirty="0"/>
              <a:t>Programming Language:</a:t>
            </a:r>
          </a:p>
          <a:p>
            <a:pPr marL="457200" indent="-457200">
              <a:buFont typeface="Arial" panose="020B0604020202020204" pitchFamily="34" charset="0"/>
              <a:buChar char="•"/>
            </a:pPr>
            <a:r>
              <a:rPr lang="en-IN" sz="3200" dirty="0"/>
              <a:t>Python </a:t>
            </a:r>
          </a:p>
          <a:p>
            <a:r>
              <a:rPr lang="en-IN" sz="3200" b="1" dirty="0"/>
              <a:t>Libraries:</a:t>
            </a:r>
          </a:p>
          <a:p>
            <a:pPr marL="457200" indent="-457200">
              <a:buFont typeface="Arial" panose="020B0604020202020204" pitchFamily="34" charset="0"/>
              <a:buChar char="•"/>
            </a:pPr>
            <a:r>
              <a:rPr lang="en-IN" sz="3200" dirty="0"/>
              <a:t>Pandas for data handling </a:t>
            </a:r>
          </a:p>
          <a:p>
            <a:pPr marL="457200" indent="-457200">
              <a:buFont typeface="Arial" panose="020B0604020202020204" pitchFamily="34" charset="0"/>
              <a:buChar char="•"/>
            </a:pPr>
            <a:r>
              <a:rPr lang="en-IN" sz="3200" dirty="0"/>
              <a:t>NumPy for numerical operations </a:t>
            </a:r>
          </a:p>
          <a:p>
            <a:pPr marL="457200" indent="-457200">
              <a:buFont typeface="Arial" panose="020B0604020202020204" pitchFamily="34" charset="0"/>
              <a:buChar char="•"/>
            </a:pPr>
            <a:r>
              <a:rPr lang="en-IN" sz="3200" dirty="0"/>
              <a:t>Matplotlib for data visualization </a:t>
            </a:r>
          </a:p>
          <a:p>
            <a:pPr marL="457200" indent="-457200">
              <a:buFont typeface="Arial" panose="020B0604020202020204" pitchFamily="34" charset="0"/>
              <a:buChar char="•"/>
            </a:pPr>
            <a:r>
              <a:rPr lang="en-IN" sz="3200" dirty="0"/>
              <a:t>Scikit-learn for Machine Learning algorithms</a:t>
            </a:r>
          </a:p>
          <a:p>
            <a:pPr marL="457200" indent="-457200">
              <a:buFont typeface="Arial" panose="020B0604020202020204" pitchFamily="34" charset="0"/>
              <a:buChar char="•"/>
            </a:pPr>
            <a:r>
              <a:rPr lang="en-IN" sz="3200" dirty="0"/>
              <a:t>yfinance for collection of data of the Stock</a:t>
            </a:r>
          </a:p>
          <a:p>
            <a:endParaRPr lang="en-IN" dirty="0"/>
          </a:p>
        </p:txBody>
      </p:sp>
    </p:spTree>
    <p:extLst>
      <p:ext uri="{BB962C8B-B14F-4D97-AF65-F5344CB8AC3E}">
        <p14:creationId xmlns:p14="http://schemas.microsoft.com/office/powerpoint/2010/main" val="1942066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4DCD-2CEB-2B29-FF55-6491B658505D}"/>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Methodology</a:t>
            </a:r>
          </a:p>
        </p:txBody>
      </p:sp>
      <p:sp>
        <p:nvSpPr>
          <p:cNvPr id="3" name="Subtitle 2">
            <a:extLst>
              <a:ext uri="{FF2B5EF4-FFF2-40B4-BE49-F238E27FC236}">
                <a16:creationId xmlns:a16="http://schemas.microsoft.com/office/drawing/2014/main" id="{8CD2285B-515C-1D03-D215-D647F596B5D5}"/>
              </a:ext>
            </a:extLst>
          </p:cNvPr>
          <p:cNvSpPr>
            <a:spLocks noGrp="1"/>
          </p:cNvSpPr>
          <p:nvPr>
            <p:ph type="subTitle"/>
          </p:nvPr>
        </p:nvSpPr>
        <p:spPr>
          <a:xfrm>
            <a:off x="457200" y="1604519"/>
            <a:ext cx="8229240" cy="4668461"/>
          </a:xfrm>
        </p:spPr>
        <p:txBody>
          <a:bodyPr/>
          <a:lstStyle/>
          <a:p>
            <a:pPr marL="0" indent="0">
              <a:buNone/>
            </a:pPr>
            <a:r>
              <a:rPr lang="en-US" sz="2400" b="1" dirty="0"/>
              <a:t>Step 1:</a:t>
            </a:r>
          </a:p>
          <a:p>
            <a:r>
              <a:rPr lang="en-US" sz="2400" dirty="0"/>
              <a:t>Collect historical stock market data from datasets.</a:t>
            </a:r>
          </a:p>
          <a:p>
            <a:pPr marL="0" indent="0">
              <a:buNone/>
            </a:pPr>
            <a:r>
              <a:rPr lang="en-US" sz="2400" b="1" dirty="0"/>
              <a:t>Step 2:</a:t>
            </a:r>
          </a:p>
          <a:p>
            <a:r>
              <a:rPr lang="en-US" sz="2400" dirty="0"/>
              <a:t>Clean and preprocess the data by removing missing values and organizing records.</a:t>
            </a:r>
          </a:p>
          <a:p>
            <a:pPr marL="0" indent="0">
              <a:buNone/>
            </a:pPr>
            <a:r>
              <a:rPr lang="en-US" sz="2400" b="1" dirty="0"/>
              <a:t>Step 3:</a:t>
            </a:r>
          </a:p>
          <a:p>
            <a:r>
              <a:rPr lang="en-US" sz="2400" dirty="0"/>
              <a:t>Train the Machine Learning model using historical stock information.</a:t>
            </a:r>
          </a:p>
          <a:p>
            <a:pPr marL="0" indent="0">
              <a:buNone/>
            </a:pPr>
            <a:r>
              <a:rPr lang="en-US" sz="2400" b="1" dirty="0"/>
              <a:t>Step 4:</a:t>
            </a:r>
          </a:p>
          <a:p>
            <a:r>
              <a:rPr lang="en-US" sz="2400" dirty="0"/>
              <a:t>Generate future stock price predictions.</a:t>
            </a:r>
          </a:p>
          <a:p>
            <a:pPr marL="0" indent="0">
              <a:buNone/>
            </a:pPr>
            <a:r>
              <a:rPr lang="en-US" sz="2400" b="1" dirty="0"/>
              <a:t>Step 5:</a:t>
            </a:r>
          </a:p>
          <a:p>
            <a:r>
              <a:rPr lang="en-US" sz="2400" dirty="0"/>
              <a:t>Display prediction results using graphs and charts.</a:t>
            </a:r>
          </a:p>
          <a:p>
            <a:endParaRPr lang="en-IN" dirty="0"/>
          </a:p>
        </p:txBody>
      </p:sp>
    </p:spTree>
    <p:extLst>
      <p:ext uri="{BB962C8B-B14F-4D97-AF65-F5344CB8AC3E}">
        <p14:creationId xmlns:p14="http://schemas.microsoft.com/office/powerpoint/2010/main" val="1091587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E4CFF-6476-8A0B-5E6F-E4BDC024329B}"/>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Machine Learning Model</a:t>
            </a:r>
          </a:p>
        </p:txBody>
      </p:sp>
      <p:sp>
        <p:nvSpPr>
          <p:cNvPr id="3" name="Subtitle 2">
            <a:extLst>
              <a:ext uri="{FF2B5EF4-FFF2-40B4-BE49-F238E27FC236}">
                <a16:creationId xmlns:a16="http://schemas.microsoft.com/office/drawing/2014/main" id="{68BA7E08-D982-F26C-94A3-8682CBC62F89}"/>
              </a:ext>
            </a:extLst>
          </p:cNvPr>
          <p:cNvSpPr>
            <a:spLocks noGrp="1"/>
          </p:cNvSpPr>
          <p:nvPr>
            <p:ph type="subTitle"/>
          </p:nvPr>
        </p:nvSpPr>
        <p:spPr>
          <a:xfrm>
            <a:off x="457200" y="1604520"/>
            <a:ext cx="8229240" cy="4550474"/>
          </a:xfrm>
        </p:spPr>
        <p:txBody>
          <a:bodyPr/>
          <a:lstStyle/>
          <a:p>
            <a:r>
              <a:rPr lang="en-US" sz="2400" b="1" dirty="0"/>
              <a:t>Machine Learning Algorithm</a:t>
            </a:r>
          </a:p>
          <a:p>
            <a:r>
              <a:rPr lang="en-US" sz="2400" b="1" dirty="0"/>
              <a:t>Algorithm Used:</a:t>
            </a:r>
          </a:p>
          <a:p>
            <a:pPr marL="342900" indent="-342900">
              <a:buFont typeface="Arial" panose="020B0604020202020204" pitchFamily="34" charset="0"/>
              <a:buChar char="•"/>
            </a:pPr>
            <a:r>
              <a:rPr lang="en-US" sz="2400" dirty="0"/>
              <a:t>Linear Regression </a:t>
            </a:r>
          </a:p>
          <a:p>
            <a:r>
              <a:rPr lang="en-US" sz="2400" b="1" dirty="0"/>
              <a:t>Working:</a:t>
            </a:r>
          </a:p>
          <a:p>
            <a:pPr marL="342900" indent="-342900">
              <a:buFont typeface="Arial" panose="020B0604020202020204" pitchFamily="34" charset="0"/>
              <a:buChar char="•"/>
            </a:pPr>
            <a:r>
              <a:rPr lang="en-US" sz="2400" dirty="0"/>
              <a:t>The Linear Regression algorithm studies the relationship between historical stock prices and future values. It learns from past trends and predicts upcoming stock prices based on patterns found in the dataset.</a:t>
            </a:r>
          </a:p>
          <a:p>
            <a:r>
              <a:rPr lang="en-US" sz="2400" b="1" dirty="0"/>
              <a:t>Advantages:</a:t>
            </a:r>
          </a:p>
          <a:p>
            <a:pPr marL="342900" indent="-342900">
              <a:buFont typeface="Arial" panose="020B0604020202020204" pitchFamily="34" charset="0"/>
              <a:buChar char="•"/>
            </a:pPr>
            <a:r>
              <a:rPr lang="en-US" sz="2400" dirty="0"/>
              <a:t>Simple and efficient algorithm </a:t>
            </a:r>
          </a:p>
          <a:p>
            <a:pPr marL="342900" indent="-342900">
              <a:buFont typeface="Arial" panose="020B0604020202020204" pitchFamily="34" charset="0"/>
              <a:buChar char="•"/>
            </a:pPr>
            <a:r>
              <a:rPr lang="en-US" sz="2400" dirty="0"/>
              <a:t>Fast prediction process </a:t>
            </a:r>
          </a:p>
          <a:p>
            <a:pPr marL="342900" indent="-342900">
              <a:buFont typeface="Arial" panose="020B0604020202020204" pitchFamily="34" charset="0"/>
              <a:buChar char="•"/>
            </a:pPr>
            <a:r>
              <a:rPr lang="en-US" sz="2400" dirty="0"/>
              <a:t>Useful for trend analysis </a:t>
            </a:r>
          </a:p>
          <a:p>
            <a:endParaRPr lang="en-IN" sz="2400" dirty="0"/>
          </a:p>
        </p:txBody>
      </p:sp>
    </p:spTree>
    <p:extLst>
      <p:ext uri="{BB962C8B-B14F-4D97-AF65-F5344CB8AC3E}">
        <p14:creationId xmlns:p14="http://schemas.microsoft.com/office/powerpoint/2010/main" val="489274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13C7-AC58-B5BB-8CF3-B1611116D004}"/>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Results &amp; Output</a:t>
            </a:r>
          </a:p>
        </p:txBody>
      </p:sp>
      <p:sp>
        <p:nvSpPr>
          <p:cNvPr id="3" name="Subtitle 2">
            <a:extLst>
              <a:ext uri="{FF2B5EF4-FFF2-40B4-BE49-F238E27FC236}">
                <a16:creationId xmlns:a16="http://schemas.microsoft.com/office/drawing/2014/main" id="{20365CA9-6CC5-31AA-B5B7-591C19048B76}"/>
              </a:ext>
            </a:extLst>
          </p:cNvPr>
          <p:cNvSpPr>
            <a:spLocks noGrp="1"/>
          </p:cNvSpPr>
          <p:nvPr>
            <p:ph type="subTitle"/>
          </p:nvPr>
        </p:nvSpPr>
        <p:spPr>
          <a:xfrm>
            <a:off x="457200" y="1604519"/>
            <a:ext cx="8229240" cy="4511145"/>
          </a:xfrm>
        </p:spPr>
        <p:txBody>
          <a:bodyPr/>
          <a:lstStyle/>
          <a:p>
            <a:r>
              <a:rPr lang="en-US" sz="2400" b="1" dirty="0"/>
              <a:t>Results</a:t>
            </a:r>
          </a:p>
          <a:p>
            <a:pPr marL="342900" indent="-342900">
              <a:buFont typeface="Arial" panose="020B0604020202020204" pitchFamily="34" charset="0"/>
              <a:buChar char="•"/>
            </a:pPr>
            <a:r>
              <a:rPr lang="en-US" sz="2400" dirty="0"/>
              <a:t>The system successfully analyzed stock market data and generated prediction results. The graphical representation helped in understanding market trends more clearly.</a:t>
            </a:r>
          </a:p>
          <a:p>
            <a:pPr marL="342900" indent="-342900">
              <a:buFont typeface="Arial" panose="020B0604020202020204" pitchFamily="34" charset="0"/>
              <a:buChar char="•"/>
            </a:pPr>
            <a:r>
              <a:rPr lang="en-US" sz="2400" dirty="0"/>
              <a:t>The Machine Learning model produced predictions based on historical data and provided useful insights for stock analysis.</a:t>
            </a:r>
          </a:p>
          <a:p>
            <a:r>
              <a:rPr lang="en-US" sz="2400" b="1" dirty="0"/>
              <a:t>Output Includes:</a:t>
            </a:r>
          </a:p>
          <a:p>
            <a:pPr marL="342900" indent="-342900">
              <a:buFont typeface="Arial" panose="020B0604020202020204" pitchFamily="34" charset="0"/>
              <a:buChar char="•"/>
            </a:pPr>
            <a:r>
              <a:rPr lang="en-US" sz="2400" dirty="0"/>
              <a:t>Stock prediction graphs </a:t>
            </a:r>
          </a:p>
          <a:p>
            <a:pPr marL="342900" indent="-342900">
              <a:buFont typeface="Arial" panose="020B0604020202020204" pitchFamily="34" charset="0"/>
              <a:buChar char="•"/>
            </a:pPr>
            <a:r>
              <a:rPr lang="en-US" sz="2400" dirty="0"/>
              <a:t>Trend analysis charts </a:t>
            </a:r>
          </a:p>
          <a:p>
            <a:pPr marL="342900" indent="-342900">
              <a:buFont typeface="Arial" panose="020B0604020202020204" pitchFamily="34" charset="0"/>
              <a:buChar char="•"/>
            </a:pPr>
            <a:r>
              <a:rPr lang="en-US" sz="2400" dirty="0"/>
              <a:t>Predicted stock values </a:t>
            </a:r>
          </a:p>
          <a:p>
            <a:endParaRPr lang="en-IN" sz="2400" dirty="0"/>
          </a:p>
        </p:txBody>
      </p:sp>
    </p:spTree>
    <p:extLst>
      <p:ext uri="{BB962C8B-B14F-4D97-AF65-F5344CB8AC3E}">
        <p14:creationId xmlns:p14="http://schemas.microsoft.com/office/powerpoint/2010/main" val="1973510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4BB20-B956-7A7B-7ABB-5F0FAEF89550}"/>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Advantages &amp; Future Scope</a:t>
            </a:r>
          </a:p>
        </p:txBody>
      </p:sp>
      <p:sp>
        <p:nvSpPr>
          <p:cNvPr id="3" name="Subtitle 2">
            <a:extLst>
              <a:ext uri="{FF2B5EF4-FFF2-40B4-BE49-F238E27FC236}">
                <a16:creationId xmlns:a16="http://schemas.microsoft.com/office/drawing/2014/main" id="{1215A756-D0A4-B276-52CA-CC645858C6A2}"/>
              </a:ext>
            </a:extLst>
          </p:cNvPr>
          <p:cNvSpPr>
            <a:spLocks noGrp="1"/>
          </p:cNvSpPr>
          <p:nvPr>
            <p:ph type="subTitle"/>
          </p:nvPr>
        </p:nvSpPr>
        <p:spPr>
          <a:xfrm>
            <a:off x="457200" y="1604519"/>
            <a:ext cx="8229240" cy="4540641"/>
          </a:xfrm>
        </p:spPr>
        <p:txBody>
          <a:bodyPr/>
          <a:lstStyle/>
          <a:p>
            <a:r>
              <a:rPr lang="en-US" sz="2400" b="1" dirty="0"/>
              <a:t>Advantages</a:t>
            </a:r>
          </a:p>
          <a:p>
            <a:pPr marL="342900" indent="-342900">
              <a:buFont typeface="Arial" panose="020B0604020202020204" pitchFamily="34" charset="0"/>
              <a:buChar char="•"/>
            </a:pPr>
            <a:r>
              <a:rPr lang="en-US" sz="2400" dirty="0"/>
              <a:t>Reduces manual effort in stock analysis. </a:t>
            </a:r>
          </a:p>
          <a:p>
            <a:pPr marL="342900" indent="-342900">
              <a:buFont typeface="Arial" panose="020B0604020202020204" pitchFamily="34" charset="0"/>
              <a:buChar char="•"/>
            </a:pPr>
            <a:r>
              <a:rPr lang="en-US" sz="2400" dirty="0"/>
              <a:t>Provides faster prediction results. </a:t>
            </a:r>
          </a:p>
          <a:p>
            <a:pPr marL="342900" indent="-342900">
              <a:buFont typeface="Arial" panose="020B0604020202020204" pitchFamily="34" charset="0"/>
              <a:buChar char="•"/>
            </a:pPr>
            <a:r>
              <a:rPr lang="en-US" sz="2400" dirty="0"/>
              <a:t>Helps investors understand market trends better. </a:t>
            </a:r>
          </a:p>
          <a:p>
            <a:pPr marL="342900" indent="-342900">
              <a:buFont typeface="Arial" panose="020B0604020202020204" pitchFamily="34" charset="0"/>
              <a:buChar char="•"/>
            </a:pPr>
            <a:r>
              <a:rPr lang="en-US" sz="2400" dirty="0"/>
              <a:t>Visual graphs improve data understanding. </a:t>
            </a:r>
          </a:p>
          <a:p>
            <a:r>
              <a:rPr lang="en-US" sz="2400" b="1" dirty="0"/>
              <a:t>Future Scope</a:t>
            </a:r>
          </a:p>
          <a:p>
            <a:pPr marL="342900" indent="-342900">
              <a:buFont typeface="Arial" panose="020B0604020202020204" pitchFamily="34" charset="0"/>
              <a:buChar char="•"/>
            </a:pPr>
            <a:r>
              <a:rPr lang="en-US" sz="2400" dirty="0"/>
              <a:t>Integration with real-time stock market APIs. </a:t>
            </a:r>
          </a:p>
          <a:p>
            <a:pPr marL="342900" indent="-342900">
              <a:buFont typeface="Arial" panose="020B0604020202020204" pitchFamily="34" charset="0"/>
              <a:buChar char="•"/>
            </a:pPr>
            <a:r>
              <a:rPr lang="en-US" sz="2400" dirty="0"/>
              <a:t>Use of advanced Deep Learning models for higher accuracy. </a:t>
            </a:r>
          </a:p>
          <a:p>
            <a:pPr marL="342900" indent="-342900">
              <a:buFont typeface="Arial" panose="020B0604020202020204" pitchFamily="34" charset="0"/>
              <a:buChar char="•"/>
            </a:pPr>
            <a:r>
              <a:rPr lang="en-US" sz="2400" dirty="0"/>
              <a:t>Development of mobile and web applications. </a:t>
            </a:r>
          </a:p>
          <a:p>
            <a:pPr marL="342900" indent="-342900">
              <a:buFont typeface="Arial" panose="020B0604020202020204" pitchFamily="34" charset="0"/>
              <a:buChar char="•"/>
            </a:pPr>
            <a:r>
              <a:rPr lang="en-US" sz="2400" dirty="0"/>
              <a:t>Addition of live market trend analysis features. </a:t>
            </a:r>
          </a:p>
          <a:p>
            <a:endParaRPr lang="en-IN" sz="2400" dirty="0"/>
          </a:p>
        </p:txBody>
      </p:sp>
    </p:spTree>
    <p:extLst>
      <p:ext uri="{BB962C8B-B14F-4D97-AF65-F5344CB8AC3E}">
        <p14:creationId xmlns:p14="http://schemas.microsoft.com/office/powerpoint/2010/main" val="4061552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C9765-ADB0-C8D9-CFF3-575443B28C1E}"/>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Conclusion</a:t>
            </a:r>
          </a:p>
        </p:txBody>
      </p:sp>
      <p:sp>
        <p:nvSpPr>
          <p:cNvPr id="3" name="Subtitle 2">
            <a:extLst>
              <a:ext uri="{FF2B5EF4-FFF2-40B4-BE49-F238E27FC236}">
                <a16:creationId xmlns:a16="http://schemas.microsoft.com/office/drawing/2014/main" id="{8AADAC63-D499-8900-0645-1CFA24C4C8A8}"/>
              </a:ext>
            </a:extLst>
          </p:cNvPr>
          <p:cNvSpPr>
            <a:spLocks noGrp="1"/>
          </p:cNvSpPr>
          <p:nvPr>
            <p:ph type="subTitle"/>
          </p:nvPr>
        </p:nvSpPr>
        <p:spPr>
          <a:xfrm>
            <a:off x="457200" y="1604519"/>
            <a:ext cx="8229240" cy="4678293"/>
          </a:xfrm>
        </p:spPr>
        <p:txBody>
          <a:bodyPr/>
          <a:lstStyle/>
          <a:p>
            <a:pPr marL="0" indent="0">
              <a:buNone/>
            </a:pPr>
            <a:r>
              <a:rPr lang="en-US" sz="2400" dirty="0"/>
              <a:t>This project demonstrates how Machine Learning can be applied in stock market prediction. By analyzing historical stock data, the system can identify patterns and generate future stock price predictions effectively . The project also provides graphical visualization for better understanding of market behavior. In the future, advanced algorithms and real-time data integration can further improve prediction accuracy and system performance.</a:t>
            </a:r>
          </a:p>
          <a:p>
            <a:endParaRPr lang="en-IN" sz="2400" dirty="0"/>
          </a:p>
        </p:txBody>
      </p:sp>
    </p:spTree>
    <p:extLst>
      <p:ext uri="{BB962C8B-B14F-4D97-AF65-F5344CB8AC3E}">
        <p14:creationId xmlns:p14="http://schemas.microsoft.com/office/powerpoint/2010/main" val="1915382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34730</TotalTime>
  <Words>638</Words>
  <Application>Microsoft Office PowerPoint</Application>
  <PresentationFormat>On-screen Show (4:3)</PresentationFormat>
  <Paragraphs>106</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           Problem Statement</vt:lpstr>
      <vt:lpstr>               Objectives</vt:lpstr>
      <vt:lpstr>           Technologies Used</vt:lpstr>
      <vt:lpstr>                Methodology</vt:lpstr>
      <vt:lpstr>     Machine Learning Model</vt:lpstr>
      <vt:lpstr>          Results &amp; Output</vt:lpstr>
      <vt:lpstr>      Advantages &amp; Future Scope</vt:lpstr>
      <vt:lpstr>                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Kartik Jangra</cp:lastModifiedBy>
  <cp:revision>2299</cp:revision>
  <dcterms:created xsi:type="dcterms:W3CDTF">2010-04-09T07:36:15Z</dcterms:created>
  <dcterms:modified xsi:type="dcterms:W3CDTF">2026-05-13T17:34:29Z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